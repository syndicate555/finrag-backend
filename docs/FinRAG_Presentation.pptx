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 &amp; 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286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009EDB"/>
                </a:solidFill>
                <a:latin typeface="Calibri"/>
              </a:rPr>
              <a:t>FinRAG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EB8C00"/>
                </a:solidFill>
                <a:latin typeface="Calibri"/>
              </a:rPr>
              <a:t>THE PROBLEM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Financial analysts need to extract insights from complex documents containing text, tables, and images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CCCCC"/>
                </a:solidFill>
                <a:latin typeface="Calibri"/>
              </a:rPr>
              <a:t>Manual review is time-consuming and error-prone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CCCCC"/>
                </a:solidFill>
                <a:latin typeface="Calibri"/>
              </a:rPr>
              <a:t>Existing tools lack contextual understanding and citation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9EDB"/>
                </a:solidFill>
                <a:latin typeface="Calibri"/>
              </a:rPr>
              <a:t>THE SOLUTION: FinRAG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RAG-powered conversational AI for financial document analysis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CCCCC"/>
                </a:solidFill>
                <a:latin typeface="Calibri"/>
              </a:rPr>
              <a:t>Intelligent query routing: KB queries, general conversation, and clarification requests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CCCCC"/>
                </a:solidFill>
                <a:latin typeface="Calibri"/>
              </a:rPr>
              <a:t>Citations with page numbers and relevance scores for every response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CCCCCC"/>
                </a:solidFill>
                <a:latin typeface="Calibri"/>
              </a:rPr>
              <a:t>Real-time streaming responses via Server-Sent 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371600"/>
            <a:ext cx="2560320" cy="100584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009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Knowledge Base
Conversations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651760"/>
            <a:ext cx="2560320" cy="100584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General
Conversations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931920"/>
            <a:ext cx="2560320" cy="100584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EB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Citations with
Page &amp; Relevance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5212080"/>
            <a:ext cx="2560320" cy="100584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Real-time
Streaming (SSE)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417320"/>
            <a:ext cx="1463040" cy="411480"/>
          </a:xfrm>
          <a:prstGeom prst="roundRect">
            <a:avLst/>
          </a:prstGeom>
          <a:solidFill>
            <a:srgbClr val="09121C"/>
          </a:solidFill>
          <a:ln w="1270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  <a:r>
              <a:rPr sz="1300" b="1">
                <a:solidFill>
                  <a:srgbClr val="009EDB"/>
                </a:solidFill>
                <a:latin typeface="Calibri"/>
              </a:rPr>
              <a:t>GPT-4o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2697480"/>
            <a:ext cx="1463040" cy="411480"/>
          </a:xfrm>
          <a:prstGeom prst="roundRect">
            <a:avLst/>
          </a:prstGeom>
          <a:solidFill>
            <a:srgbClr val="09121C"/>
          </a:solidFill>
          <a:ln w="1270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  <a:r>
              <a:rPr sz="1300" b="1">
                <a:solidFill>
                  <a:srgbClr val="009EDB"/>
                </a:solidFill>
                <a:latin typeface="Calibri"/>
              </a:rPr>
              <a:t>Pinecone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3977640"/>
            <a:ext cx="1463040" cy="411480"/>
          </a:xfrm>
          <a:prstGeom prst="roundRect">
            <a:avLst/>
          </a:prstGeom>
          <a:solidFill>
            <a:srgbClr val="09121C"/>
          </a:solidFill>
          <a:ln w="1270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  <a:r>
              <a:rPr sz="1300" b="1">
                <a:solidFill>
                  <a:srgbClr val="009EDB"/>
                </a:solidFill>
                <a:latin typeface="Calibri"/>
              </a:rPr>
              <a:t>FastAPI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5257800"/>
            <a:ext cx="1463040" cy="411480"/>
          </a:xfrm>
          <a:prstGeom prst="roundRect">
            <a:avLst/>
          </a:prstGeom>
          <a:solidFill>
            <a:srgbClr val="09121C"/>
          </a:solidFill>
          <a:ln w="1270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25400" bIns="25400"/>
          <a:lstStyle/>
          <a:p>
            <a:pPr algn="ctr"/>
            <a:r>
              <a:rPr sz="1300" b="1">
                <a:solidFill>
                  <a:srgbClr val="009EDB"/>
                </a:solidFill>
                <a:latin typeface="Calibri"/>
              </a:rPr>
              <a:t>Next.js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788"/>
                </a:solidFill>
                <a:latin typeface="Calibri"/>
              </a:rPr>
              <a:t>PwC Take-Home Assessment — Saffat Aziz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Solution Architecture — Cloud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286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009EDB"/>
                </a:solidFill>
                <a:latin typeface="Calibri"/>
              </a:rPr>
              <a:t>FinRAG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3200400" cy="164592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009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600" b="1">
                <a:solidFill>
                  <a:srgbClr val="009EDB"/>
                </a:solidFill>
                <a:latin typeface="Calibri"/>
              </a:rPr>
              <a:t>Frontend</a:t>
            </a:r>
          </a:p>
          <a:p>
            <a:pPr algn="ctr"/>
            <a:r>
              <a:rPr sz="1200" b="0">
                <a:solidFill>
                  <a:srgbClr val="CCCCCC"/>
                </a:solidFill>
                <a:latin typeface="Calibri"/>
              </a:rPr>
              <a:t>Next.js 16 on Vercel
finrag.info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371600"/>
            <a:ext cx="3200400" cy="164592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600" b="1">
                <a:solidFill>
                  <a:srgbClr val="009688"/>
                </a:solidFill>
                <a:latin typeface="Calibri"/>
              </a:rPr>
              <a:t>Backend</a:t>
            </a:r>
          </a:p>
          <a:p>
            <a:pPr algn="ctr"/>
            <a:r>
              <a:rPr sz="1200" b="0">
                <a:solidFill>
                  <a:srgbClr val="CCCCCC"/>
                </a:solidFill>
                <a:latin typeface="Calibri"/>
              </a:rPr>
              <a:t>FastAPI on Azure
Container Apps
(serverless, scale-to-zero)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200400" cy="164592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EB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600" b="1">
                <a:solidFill>
                  <a:srgbClr val="EB8C00"/>
                </a:solidFill>
                <a:latin typeface="Calibri"/>
              </a:rPr>
              <a:t>LLM</a:t>
            </a:r>
          </a:p>
          <a:p>
            <a:pPr algn="ctr"/>
            <a:r>
              <a:rPr sz="1200" b="0">
                <a:solidFill>
                  <a:srgbClr val="CCCCCC"/>
                </a:solidFill>
                <a:latin typeface="Calibri"/>
              </a:rPr>
              <a:t>OpenAI GPT-4o
(generation)
GPT-4o-mini
(query classification)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383280"/>
            <a:ext cx="3200400" cy="146304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600" b="1">
                <a:solidFill>
                  <a:srgbClr val="7C4DFF"/>
                </a:solidFill>
                <a:latin typeface="Calibri"/>
              </a:rPr>
              <a:t>Vector DB</a:t>
            </a:r>
          </a:p>
          <a:p>
            <a:pPr algn="ctr"/>
            <a:r>
              <a:rPr sz="1200" b="0">
                <a:solidFill>
                  <a:srgbClr val="CCCCCC"/>
                </a:solidFill>
                <a:latin typeface="Calibri"/>
              </a:rPr>
              <a:t>Pinecone
text-embedding-3-large
1536 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383280"/>
            <a:ext cx="3200400" cy="146304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600" b="1">
                <a:solidFill>
                  <a:srgbClr val="4CAF50"/>
                </a:solidFill>
                <a:latin typeface="Calibri"/>
              </a:rPr>
              <a:t>Database</a:t>
            </a:r>
          </a:p>
          <a:p>
            <a:pPr algn="ctr"/>
            <a:r>
              <a:rPr sz="1200" b="0">
                <a:solidFill>
                  <a:srgbClr val="CCCCCC"/>
                </a:solidFill>
                <a:latin typeface="Calibri"/>
              </a:rPr>
              <a:t>Supabase PostgreSQL
threads, messages,
documents, sections,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383280"/>
            <a:ext cx="3200400" cy="146304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600" b="1">
                <a:solidFill>
                  <a:srgbClr val="FFB74D"/>
                </a:solidFill>
                <a:latin typeface="Calibri"/>
              </a:rPr>
              <a:t>Storage</a:t>
            </a:r>
          </a:p>
          <a:p>
            <a:pPr algn="ctr"/>
            <a:r>
              <a:rPr sz="1200" b="0">
                <a:solidFill>
                  <a:srgbClr val="CCCCCC"/>
                </a:solidFill>
                <a:latin typeface="Calibri"/>
              </a:rPr>
              <a:t>Supabase Object Storage
PDF blob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212080"/>
            <a:ext cx="3200400" cy="128016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600" b="1">
                <a:solidFill>
                  <a:srgbClr val="E53935"/>
                </a:solidFill>
                <a:latin typeface="Calibri"/>
              </a:rPr>
              <a:t>Document Intelligence</a:t>
            </a:r>
          </a:p>
          <a:p>
            <a:pPr algn="ctr"/>
            <a:r>
              <a:rPr sz="1200" b="0">
                <a:solidFill>
                  <a:srgbClr val="CCCCCC"/>
                </a:solidFill>
                <a:latin typeface="Calibri"/>
              </a:rPr>
              <a:t>Azure Document Intelligence
Structured parsing
(fallback: pdfplumber)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5212080"/>
            <a:ext cx="3200400" cy="128016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90A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600" b="1">
                <a:solidFill>
                  <a:srgbClr val="90A4AE"/>
                </a:solidFill>
                <a:latin typeface="Calibri"/>
              </a:rPr>
              <a:t>CI/CD</a:t>
            </a:r>
          </a:p>
          <a:p>
            <a:pPr algn="ctr"/>
            <a:r>
              <a:rPr sz="1200" b="0">
                <a:solidFill>
                  <a:srgbClr val="CCCCCC"/>
                </a:solidFill>
                <a:latin typeface="Calibri"/>
              </a:rPr>
              <a:t>GitHub Actions
→ ACR → Container Apps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5212080"/>
            <a:ext cx="3200400" cy="128016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600" b="1">
                <a:solidFill>
                  <a:srgbClr val="42A5F5"/>
                </a:solidFill>
                <a:latin typeface="Calibri"/>
              </a:rPr>
              <a:t>Monitoring</a:t>
            </a:r>
          </a:p>
          <a:p>
            <a:pPr algn="ctr"/>
            <a:r>
              <a:rPr sz="1200" b="0">
                <a:solidFill>
                  <a:srgbClr val="CCCCCC"/>
                </a:solidFill>
                <a:latin typeface="Calibri"/>
              </a:rPr>
              <a:t>Azure Application Insights
+ Azure Portal Dashboard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66160" y="2194560"/>
            <a:ext cx="274320" cy="0"/>
          </a:xfrm>
          <a:prstGeom prst="line">
            <a:avLst/>
          </a:prstGeom>
          <a:ln w="25400">
            <a:solidFill>
              <a:srgbClr val="00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2194560"/>
            <a:ext cx="1005840" cy="0"/>
          </a:xfrm>
          <a:prstGeom prst="line">
            <a:avLst/>
          </a:prstGeom>
          <a:ln w="25400">
            <a:solidFill>
              <a:srgbClr val="00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40680" y="3017520"/>
            <a:ext cx="0" cy="365760"/>
          </a:xfrm>
          <a:prstGeom prst="line">
            <a:avLst/>
          </a:prstGeom>
          <a:ln w="25400">
            <a:solidFill>
              <a:srgbClr val="00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965960" y="3017520"/>
            <a:ext cx="0" cy="365760"/>
          </a:xfrm>
          <a:prstGeom prst="line">
            <a:avLst/>
          </a:prstGeom>
          <a:ln w="25400">
            <a:solidFill>
              <a:srgbClr val="00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46920" y="3017520"/>
            <a:ext cx="0" cy="365760"/>
          </a:xfrm>
          <a:prstGeom prst="line">
            <a:avLst/>
          </a:prstGeom>
          <a:ln w="25400">
            <a:solidFill>
              <a:srgbClr val="00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60" y="6446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788"/>
                </a:solidFill>
                <a:latin typeface="Calibri"/>
              </a:rPr>
              <a:t>PwC Take-Home Assessment — Saffat Aziz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Design Flow — RAG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286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009EDB"/>
                </a:solidFill>
                <a:latin typeface="Calibri"/>
              </a:rPr>
              <a:t>FinRAG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EB8C00"/>
                </a:solidFill>
                <a:latin typeface="Calibri"/>
              </a:rPr>
              <a:t>INGESTION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2011680" cy="118872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009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Upload PDF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2331720"/>
            <a:ext cx="274320" cy="0"/>
          </a:xfrm>
          <a:prstGeom prst="line">
            <a:avLst/>
          </a:prstGeom>
          <a:ln w="25400">
            <a:solidFill>
              <a:srgbClr val="00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51760" y="1737360"/>
            <a:ext cx="2011680" cy="118872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Azure DI Parse
(fallback:
pdfplumber)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63440" y="2331720"/>
            <a:ext cx="274320" cy="0"/>
          </a:xfrm>
          <a:prstGeom prst="line">
            <a:avLst/>
          </a:prstGeom>
          <a:ln w="25400">
            <a:solidFill>
              <a:srgbClr val="00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37760" y="1737360"/>
            <a:ext cx="2011680" cy="118872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Token Chunking
512 tokens
64 overlap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49440" y="2331720"/>
            <a:ext cx="274320" cy="0"/>
          </a:xfrm>
          <a:prstGeom prst="line">
            <a:avLst/>
          </a:prstGeom>
          <a:ln w="25400">
            <a:solidFill>
              <a:srgbClr val="00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23760" y="1737360"/>
            <a:ext cx="2011680" cy="118872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Embed
text-embedding
-3-large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35440" y="2331720"/>
            <a:ext cx="274320" cy="0"/>
          </a:xfrm>
          <a:prstGeom prst="line">
            <a:avLst/>
          </a:prstGeom>
          <a:ln w="25400">
            <a:solidFill>
              <a:srgbClr val="00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09760" y="1737360"/>
            <a:ext cx="2011680" cy="118872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Upsert to
Pinecone +
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09EDB"/>
                </a:solidFill>
                <a:latin typeface="Calibri"/>
              </a:rPr>
              <a:t>QUERY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49039"/>
            <a:ext cx="2011680" cy="118872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009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User
Message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77440" y="4343400"/>
            <a:ext cx="274320" cy="0"/>
          </a:xfrm>
          <a:prstGeom prst="line">
            <a:avLst/>
          </a:prstGeom>
          <a:ln w="25400">
            <a:solidFill>
              <a:srgbClr val="00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651760" y="3749039"/>
            <a:ext cx="2011680" cy="118872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EB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Query Router
kb / general /
clarification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63440" y="4343400"/>
            <a:ext cx="274320" cy="0"/>
          </a:xfrm>
          <a:prstGeom prst="line">
            <a:avLst/>
          </a:prstGeom>
          <a:ln w="25400">
            <a:solidFill>
              <a:srgbClr val="00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937760" y="3749039"/>
            <a:ext cx="2011680" cy="118872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Retrieve
top-k=20 from
Pinecone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49440" y="4343400"/>
            <a:ext cx="274320" cy="0"/>
          </a:xfrm>
          <a:prstGeom prst="line">
            <a:avLst/>
          </a:prstGeom>
          <a:ln w="25400">
            <a:solidFill>
              <a:srgbClr val="00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23760" y="3749039"/>
            <a:ext cx="2011680" cy="118872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Stream GPT-4o
via SSE with
citations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35440" y="4343400"/>
            <a:ext cx="274320" cy="0"/>
          </a:xfrm>
          <a:prstGeom prst="line">
            <a:avLst/>
          </a:prstGeom>
          <a:ln w="25400">
            <a:solidFill>
              <a:srgbClr val="00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09760" y="3749039"/>
            <a:ext cx="2011680" cy="118872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Display with
page refs &amp;
relevance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2120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90A4AE"/>
                </a:solidFill>
                <a:latin typeface="Calibri"/>
              </a:rPr>
              <a:t>METADATA TAGS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section_heading  |  section_level  |  parent_section  |  content_type (text/table)  |  page_start  |  page_end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788"/>
                </a:solidFill>
                <a:latin typeface="Calibri"/>
              </a:rPr>
              <a:t>PwC Take-Home Assessment — Saffat Aziz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Decisions &amp; Evaluation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286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009EDB"/>
                </a:solidFill>
                <a:latin typeface="Calibri"/>
              </a:rPr>
              <a:t>FinRAG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EB8C00"/>
                </a:solidFill>
                <a:latin typeface="Calibri"/>
              </a:rPr>
              <a:t>KEY ARCHITECTURAL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Azure Container Apps over VM — serverless, scale-to-zero, cost-efficient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Pinecone over pgvector — managed service, better scale, metadata filtering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Token-based chunking (512 tokens, 64 overlap) — preserves semantic boundaries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Azure DI with pdfplumber fallback — robust parsing for tables + text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GPT-4o-mini for query routing — fast classification, cost-effective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SSE streaming — real-time UX, lower perceived latency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Supabase for DB + Storage — unified platform, real-time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09EDB"/>
                </a:solidFill>
                <a:latin typeface="Calibri"/>
              </a:rPr>
              <a:t>EVALUATION APPROACH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37360"/>
            <a:ext cx="5303520" cy="219456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600" b="1">
                <a:solidFill>
                  <a:srgbClr val="7C4DFF"/>
                </a:solidFill>
                <a:latin typeface="Calibri"/>
              </a:rPr>
              <a:t>Offline — RAGAS Framework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300" b="0">
                <a:solidFill>
                  <a:srgbClr val="CCCCCC"/>
                </a:solidFill>
                <a:latin typeface="Calibri"/>
              </a:rPr>
              <a:t>Faithfulness — Is the answer grounded in context?</a:t>
            </a:r>
          </a:p>
          <a:p>
            <a:pPr algn="ctr"/>
            <a:r>
              <a:rPr sz="1300" b="0">
                <a:solidFill>
                  <a:srgbClr val="CCCCCC"/>
                </a:solidFill>
                <a:latin typeface="Calibri"/>
              </a:rPr>
              <a:t>Answer Relevancy — Does it address the query?</a:t>
            </a:r>
          </a:p>
          <a:p>
            <a:pPr algn="ctr"/>
            <a:r>
              <a:rPr sz="1300" b="0">
                <a:solidFill>
                  <a:srgbClr val="CCCCCC"/>
                </a:solidFill>
                <a:latin typeface="Calibri"/>
              </a:rPr>
              <a:t>Context Precision — Are retrieved chunks relevant?</a:t>
            </a:r>
          </a:p>
          <a:p>
            <a:pPr algn="ctr"/>
            <a:r>
              <a:rPr sz="1300" b="0">
                <a:solidFill>
                  <a:srgbClr val="CCCCCC"/>
                </a:solidFill>
                <a:latin typeface="Calibri"/>
              </a:rPr>
              <a:t>Context Recall — Are all needed chunks retrieved?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206240"/>
            <a:ext cx="5303520" cy="2194560"/>
          </a:xfrm>
          <a:prstGeom prst="roundRect">
            <a:avLst/>
          </a:prstGeom>
          <a:solidFill>
            <a:srgbClr val="1B3A5C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sz="1600" b="1">
                <a:solidFill>
                  <a:srgbClr val="4CAF50"/>
                </a:solidFill>
                <a:latin typeface="Calibri"/>
              </a:rPr>
              <a:t>Online — Production Monitoring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300" b="0">
                <a:solidFill>
                  <a:srgbClr val="CCCCCC"/>
                </a:solidFill>
                <a:latin typeface="Calibri"/>
              </a:rPr>
              <a:t>User Feedback — Thumbs up/down per response</a:t>
            </a:r>
          </a:p>
          <a:p>
            <a:pPr algn="ctr"/>
            <a:r>
              <a:rPr sz="1300" b="0">
                <a:solidFill>
                  <a:srgbClr val="CCCCCC"/>
                </a:solidFill>
                <a:latin typeface="Calibri"/>
              </a:rPr>
              <a:t>Application Insights — Latency, error rate tracking</a:t>
            </a:r>
          </a:p>
          <a:p>
            <a:pPr algn="ctr"/>
            <a:r>
              <a:rPr sz="1300" b="0">
                <a:solidFill>
                  <a:srgbClr val="CCCCCC"/>
                </a:solidFill>
                <a:latin typeface="Calibri"/>
              </a:rPr>
              <a:t>Azure Dashboard — Dependency duration, throughput</a:t>
            </a:r>
          </a:p>
          <a:p>
            <a:pPr algn="ctr"/>
            <a:r>
              <a:rPr sz="1300" b="0">
                <a:solidFill>
                  <a:srgbClr val="CCCCCC"/>
                </a:solidFill>
                <a:latin typeface="Calibri"/>
              </a:rPr>
              <a:t>Usage Analytics — Query patterns, document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788"/>
                </a:solidFill>
                <a:latin typeface="Calibri"/>
              </a:rPr>
              <a:t>PwC Take-Home Assessment — Saffat Aziz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9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Live Demo &amp;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286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009EDB"/>
                </a:solidFill>
                <a:latin typeface="Calibri"/>
              </a:rPr>
              <a:t>FinRAG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EB8C00"/>
                </a:solidFill>
                <a:latin typeface="Calibri"/>
              </a:rPr>
              <a:t>DEMO WALKTHROUGH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Upload BMO Annual Report (PDF) and observe ingestion pipeline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51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Ask a KB question — see citations with page numbers &amp; relevance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474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Ask a general question — observe query routing classification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Send an ambiguous query — trigger clarification flow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20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Submit feedback — thumbs up/down stored in Supabase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09EDB"/>
                </a:solidFill>
                <a:latin typeface="Calibri"/>
              </a:rPr>
              <a:t>FUTURE ENHANCEMENTS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854200"/>
            <a:ext cx="50800" cy="3657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alibri"/>
              </a:rPr>
              <a:t>Multi-document cross-referencing and comparison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494280"/>
            <a:ext cx="5080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alibri"/>
              </a:rPr>
              <a:t>Advanced table extraction with structure preservation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134360"/>
            <a:ext cx="50800" cy="36576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alibri"/>
              </a:rPr>
              <a:t>Image/chart analysis with vision models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774440"/>
            <a:ext cx="50800" cy="36576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749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alibri"/>
              </a:rPr>
              <a:t>Hybrid search (dense + sparse retrieval)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414520"/>
            <a:ext cx="50800" cy="365760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alibri"/>
              </a:rPr>
              <a:t>Fine-tuned embedding model for financial domain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054600"/>
            <a:ext cx="50800" cy="3657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alibri"/>
              </a:rPr>
              <a:t>Role-based access control (RBAC)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694680"/>
            <a:ext cx="508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alibri"/>
              </a:rPr>
              <a:t>Automated RAGAS evaluation pipeline in CI/CD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788"/>
                </a:solidFill>
                <a:latin typeface="Calibri"/>
              </a:rPr>
              <a:t>PwC Take-Home Assessment — Saffat Aziz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